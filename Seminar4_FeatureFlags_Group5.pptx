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3-1.mp4"/><Relationship Id="rId2" Type="http://schemas.microsoft.com/office/2007/relationships/media" Target="../media/media-13-1.mp4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956816"/>
            <a:ext cx="1920240" cy="0"/>
          </a:xfrm>
          <a:prstGeom prst="line">
            <a:avLst/>
          </a:prstGeom>
          <a:noFill/>
          <a:ln w="50800">
            <a:solidFill>
              <a:srgbClr val="F4D0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10312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code without releasing features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5394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DH2643 Seminar 4 · Group 5 · 18 Sept. 2026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Jintong Jiang · Emma Lindblom · Lexuan Zhang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71432" y="228600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71432" y="228600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flag: 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71432" y="274320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71432" y="274320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30%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71432" y="320040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71432" y="320040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 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 · Group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Friday, 2 a.m. — the deploy went out. Then…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EDF1F6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23:40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1214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4672" y="257860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checkout + 5 other features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77640" y="2423160"/>
            <a:ext cx="365760" cy="0"/>
          </a:xfrm>
          <a:prstGeom prst="line">
            <a:avLst/>
          </a:prstGeom>
          <a:noFill/>
          <a:ln w="25400">
            <a:solidFill>
              <a:srgbClr val="5D6B7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89120" y="155448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EDF1F6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45152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02:00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45152" y="21214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reports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45152" y="257860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is broken for everyone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18120" y="2423160"/>
            <a:ext cx="365760" cy="0"/>
          </a:xfrm>
          <a:prstGeom prst="line">
            <a:avLst/>
          </a:prstGeom>
          <a:noFill/>
          <a:ln w="25400">
            <a:solidFill>
              <a:srgbClr val="5D6B7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0" y="155448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EDF1F6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85632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02:15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85632" y="21214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options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85632" y="257860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the WHOLE version — or hotfix at 2 a.m.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FDF2F0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794760"/>
            <a:ext cx="10451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this so painful?  </a:t>
            </a:r>
            <a:pPr indent="0" marL="0">
              <a:buNone/>
            </a:pPr>
            <a:r>
              <a:rPr lang="en-US" sz="1700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in this world, deploying and releasing are the same event — the moment code goes out, users get everything in it.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48640" y="5074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choice after that is damage control.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 · Group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 — split the event in two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035040" cy="2651760"/>
          </a:xfrm>
          <a:prstGeom prst="roundRect">
            <a:avLst>
              <a:gd name="adj" fmla="val 3448"/>
            </a:avLst>
          </a:prstGeom>
          <a:solidFill>
            <a:srgbClr val="14181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deploy — the code package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1B2129"/>
          </a:solidFill>
          <a:ln w="1524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48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 checkout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11880" y="214884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2A2708"/>
          </a:solidFill>
          <a:ln w="15240">
            <a:solidFill>
              <a:srgbClr val="B795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148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D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(hidden) new checkout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2862072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2A2708"/>
          </a:solidFill>
          <a:ln w="15240">
            <a:solidFill>
              <a:srgbClr val="B795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8620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D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(hidden) new home page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11880" y="2862072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1B2129"/>
          </a:solidFill>
          <a:ln w="1524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28620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 fix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= behind a flag, shipped but not released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1691640"/>
            <a:ext cx="4663440" cy="1005840"/>
          </a:xfrm>
          <a:prstGeom prst="roundRect">
            <a:avLst>
              <a:gd name="adj" fmla="val 8182"/>
            </a:avLst>
          </a:prstGeom>
          <a:solidFill>
            <a:srgbClr val="EEF4FE"/>
          </a:solidFill>
          <a:ln w="19050">
            <a:solidFill>
              <a:srgbClr val="1F6F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18196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Deploying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22376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code on the server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49440" y="2926080"/>
            <a:ext cx="4663440" cy="1005840"/>
          </a:xfrm>
          <a:prstGeom prst="roundRect">
            <a:avLst>
              <a:gd name="adj" fmla="val 8182"/>
            </a:avLst>
          </a:prstGeom>
          <a:solidFill>
            <a:srgbClr val="FEF9E7"/>
          </a:solidFill>
          <a:ln w="19050">
            <a:solidFill>
              <a:srgbClr val="B795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30540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A6D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Releasing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223760" y="3429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the flag on — for everyone, 30%, or just your team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EDF1F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709160"/>
            <a:ext cx="10451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levers, two different days.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Friday morning behind a switch. Release Monday 9 a.m. — or never, if the flag stays off. Turning a flag off takes seconds and touches no code.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 · Group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feature flag?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675120" cy="13716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72768"/>
            <a:ext cx="6309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(flags.isEnabledFor(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'new-cart'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user))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renderNewCart(); 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renderOldCart();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if is trivial — the engineering is where the flag lives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config service, evaluated server-side, per user, changeable in seconds without touching code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flag types you'll meet in the wild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4663440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4617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/ off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80360" y="4617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toggle · kill switch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5230368"/>
            <a:ext cx="365760" cy="36576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5230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5568" y="51846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percentage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80360" y="5184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rollout · canary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" y="5797296"/>
            <a:ext cx="365760" cy="36576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5797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" y="57515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880360" y="57515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variants by bucket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35240" y="1463040"/>
            <a:ext cx="3977640" cy="4343400"/>
          </a:xfrm>
          <a:prstGeom prst="roundRect">
            <a:avLst>
              <a:gd name="adj" fmla="val 2299"/>
            </a:avLst>
          </a:prstGeom>
          <a:solidFill>
            <a:srgbClr val="14181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90956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flags live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09560" y="2148840"/>
            <a:ext cx="3429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9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React state in the browser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+ bucketing live server-side; pages only consume them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our demo server for LaunchDarkly — the page wouldn't change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you saw was made by the server, per user id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 · Group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— Noodle Noodle + a real flag console</a:t>
            </a:r>
            <a:endParaRPr lang="en-US" sz="3000" dirty="0"/>
          </a:p>
        </p:txBody>
      </p:sp>
      <p:pic>
        <p:nvPicPr>
          <p:cNvPr id="5" name="Image 0" descr="deliverables/shot-01-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040880" cy="3822978"/>
          </a:xfrm>
          <a:prstGeom prst="rect">
            <a:avLst/>
          </a:prstGeom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48640" y="5350026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D6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30% rollout · A/B board · express-checkout ON (the bug)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01000" y="1828800"/>
            <a:ext cx="363931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600"/>
              </a:spcAft>
              <a:buSzPct val="100000"/>
              <a:buChar char="▸"/>
            </a:pPr>
            <a:r>
              <a:rPr lang="en-US" sz="1600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the app customers see</a:t>
            </a:r>
            <a:endParaRPr lang="en-US" sz="1600" dirty="0"/>
          </a:p>
          <a:p>
            <a:pPr marL="152400" indent="-152400">
              <a:spcAft>
                <a:spcPts val="1600"/>
              </a:spcAft>
              <a:buSzPct val="100000"/>
              <a:buChar char="▸"/>
            </a:pPr>
            <a:r>
              <a:rPr lang="en-US" sz="1600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Right: the console engineers see</a:t>
            </a:r>
            <a:endParaRPr lang="en-US" sz="1600" dirty="0"/>
          </a:p>
          <a:p>
            <a:pPr marL="152400" indent="-152400">
              <a:spcAft>
                <a:spcPts val="1600"/>
              </a:spcAft>
              <a:buSzPct val="100000"/>
              <a:buChar char="▸"/>
            </a:pPr>
            <a:r>
              <a:rPr lang="en-US" sz="1600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cart = my user fell inside the rollout bucket</a:t>
            </a:r>
            <a:endParaRPr lang="en-US" sz="1600" dirty="0"/>
          </a:p>
          <a:p>
            <a:pPr marL="152400" indent="-152400">
              <a:spcAft>
                <a:spcPts val="1600"/>
              </a:spcAft>
              <a:buSzPct val="100000"/>
              <a:buChar char="▸"/>
            </a:pPr>
            <a:r>
              <a:rPr lang="en-US" sz="1600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strip: redeploys 0 · flag flips live count</a:t>
            </a:r>
            <a:endParaRPr lang="en-US" sz="1600" dirty="0"/>
          </a:p>
          <a:p>
            <a:pPr marL="152400" indent="-152400">
              <a:spcAft>
                <a:spcPts val="1600"/>
              </a:spcAft>
              <a:buSzPct val="100000"/>
              <a:buChar char="▸"/>
            </a:pPr>
            <a:r>
              <a:rPr lang="en-US" sz="1600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page, five scenes — every change driven by the console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01000" y="5669280"/>
            <a:ext cx="3639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theme · canary board · coin-flip visitors · a Friday-night incident · a 5-second rescue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 · Group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just happened?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365760" cy="36576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flip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834640" y="146304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switch, instant re-render — the whole primitive in one click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432304"/>
            <a:ext cx="365760" cy="36576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359152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rollout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34640" y="235915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hash-bucketed users light up; small blast radius, canary release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328416"/>
            <a:ext cx="365760" cy="36576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255264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834640" y="325526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hashing primitive, two variants — product decisions from flags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224528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151376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834640" y="415137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express-checkout breaks orders at 2 a.m. — flag OFF, orders resume, redeploys 0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772400" y="1463040"/>
            <a:ext cx="3886200" cy="3566160"/>
          </a:xfrm>
          <a:prstGeom prst="roundRect">
            <a:avLst>
              <a:gd name="adj" fmla="val 2564"/>
            </a:avLst>
          </a:prstGeom>
          <a:solidFill>
            <a:srgbClr val="14181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046720" y="1783080"/>
            <a:ext cx="3337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“Both versions ship together.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flag chooses.”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checkout never replaced the old one — it arrived next to it, hidden. That's why turning the broken one off was instant: the reliable path never left.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48640" y="5349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scenes · zero typing · one localhost command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 · Group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B795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Deploying is not releasing.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one sentence to remember from today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10607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can sit in production, hidden, for days</a:t>
            </a:r>
            <a:endParaRPr lang="en-US" sz="1800" dirty="0"/>
          </a:p>
          <a:p>
            <a:pPr marL="152400" indent="-1524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 become reversible decisions, not one-way doors</a:t>
            </a:r>
            <a:endParaRPr lang="en-US" sz="1800" dirty="0"/>
          </a:p>
          <a:p>
            <a:pPr marL="152400" indent="-1524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blast radius of any mistake becomes a percentage you choose</a:t>
            </a:r>
            <a:endParaRPr lang="en-US" sz="1800" dirty="0"/>
          </a:p>
          <a:p>
            <a:pPr marL="152400" indent="-1524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rollback button is a light switch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 · Group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how real software ships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EDF1F6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783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LaunchDarkly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22402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billion-dollar company built on flag infrastructure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EDF1F6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5152" y="1783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45152" y="22402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ships dark features behind flags, flips them on per account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1554480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EDF1F6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85632" y="1783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485632" y="22402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canary-releases new code to fractions of users first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FEF9E7"/>
          </a:solidFill>
          <a:ln w="19050">
            <a:solidFill>
              <a:srgbClr val="B795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657600"/>
            <a:ext cx="10451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6D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phone already works this way.  </a:t>
            </a:r>
            <a:pPr indent="0" marL="0">
              <a:buNone/>
            </a:pPr>
            <a:r>
              <a:rPr lang="en-US" sz="1700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feature of your favourite app is very likely already downloaded on your device — just not switched on for you yet.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8640" y="51663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flags: the quiet layer under trunk-based development and continuous delivery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 · Group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piece of math — bucketing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949440" cy="123444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91056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hash( flagName + ":" + userId ) % 100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rolloutPct   →   user is IN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6949440" cy="777240"/>
          </a:xfrm>
          <a:prstGeom prst="roundRect">
            <a:avLst>
              <a:gd name="adj" fmla="val 10588"/>
            </a:avLst>
          </a:prstGeom>
          <a:solidFill>
            <a:srgbClr val="EDF1F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1363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34640" y="313639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user + same flag → same bucket, every visit — stable experience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6949440" cy="777240"/>
          </a:xfrm>
          <a:prstGeom prst="roundRect">
            <a:avLst>
              <a:gd name="adj" fmla="val 10588"/>
            </a:avLst>
          </a:prstGeom>
          <a:solidFill>
            <a:srgbClr val="EDF1F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0507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Monotonic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34640" y="405079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the rollout only ADDS users — nobody flips out mid-experience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6949440" cy="777240"/>
          </a:xfrm>
          <a:prstGeom prst="roundRect">
            <a:avLst>
              <a:gd name="adj" fmla="val 10588"/>
            </a:avLst>
          </a:prstGeom>
          <a:solidFill>
            <a:srgbClr val="EDF1F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9651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 lines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34640" y="496519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FNV-1a hash at the top of our server.js — same trick LaunchDarkly documents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863840" y="1463040"/>
            <a:ext cx="3794760" cy="4343400"/>
          </a:xfrm>
          <a:prstGeom prst="roundRect">
            <a:avLst>
              <a:gd name="adj" fmla="val 2410"/>
            </a:avLst>
          </a:prstGeom>
          <a:solidFill>
            <a:srgbClr val="14181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3816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hash, not random?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2148840"/>
            <a:ext cx="3246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400"/>
              </a:spcAft>
              <a:buSzPct val="100000"/>
              <a:buChar char="▸"/>
            </a:pPr>
            <a:r>
              <a:rPr lang="en-US" sz="14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per visit → your dark mode flickers off tomorrow</a:t>
            </a:r>
            <a:endParaRPr lang="en-US" sz="1450" dirty="0"/>
          </a:p>
          <a:p>
            <a:pPr marL="152400" indent="-152400">
              <a:spcAft>
                <a:spcPts val="1400"/>
              </a:spcAft>
              <a:buSzPct val="100000"/>
              <a:buChar char="▸"/>
            </a:pPr>
            <a:r>
              <a:rPr lang="en-US" sz="14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of user id → the user never notices the machinery</a:t>
            </a:r>
            <a:endParaRPr lang="en-US" sz="1450" dirty="0"/>
          </a:p>
          <a:p>
            <a:pPr marL="152400" indent="-152400">
              <a:spcAft>
                <a:spcPts val="1400"/>
              </a:spcAft>
              <a:buSzPct val="100000"/>
              <a:buChar char="▸"/>
            </a:pPr>
            <a:r>
              <a:rPr lang="en-US" sz="14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flag name → independent buckets for every experiment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 · Group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honest — the costs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17236" cy="1783080"/>
          </a:xfrm>
          <a:prstGeom prst="roundRect">
            <a:avLst>
              <a:gd name="adj" fmla="val 5128"/>
            </a:avLst>
          </a:prstGeom>
          <a:solidFill>
            <a:srgbClr val="EDF1F6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11680"/>
            <a:ext cx="46771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debt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accumulate; every stale flag is a code path nobody understands — removal is part of the discipline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323076" y="1783080"/>
            <a:ext cx="5317236" cy="1783080"/>
          </a:xfrm>
          <a:prstGeom prst="roundRect">
            <a:avLst>
              <a:gd name="adj" fmla="val 5128"/>
            </a:avLst>
          </a:prstGeom>
          <a:solidFill>
            <a:srgbClr val="EDF1F6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43116" y="2011680"/>
            <a:ext cx="46771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Combinatorics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flags = 16 configurations — you cannot test them all; keep independent and few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5317236" cy="1783080"/>
          </a:xfrm>
          <a:prstGeom prst="roundRect">
            <a:avLst>
              <a:gd name="adj" fmla="val 5128"/>
            </a:avLst>
          </a:prstGeom>
          <a:solidFill>
            <a:srgbClr val="EDF1F6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4251960"/>
            <a:ext cx="46771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dependency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flag service becomes critical infrastructure — real SDKs cache locally and define safe defaults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323076" y="4023360"/>
            <a:ext cx="5317236" cy="1783080"/>
          </a:xfrm>
          <a:prstGeom prst="roundRect">
            <a:avLst>
              <a:gd name="adj" fmla="val 5128"/>
            </a:avLst>
          </a:prstGeom>
          <a:solidFill>
            <a:srgbClr val="EDF1F6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43116" y="4251960"/>
            <a:ext cx="46771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branch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are not feature branches — long-lived branches that merge badly are the disease flags exist to cure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these kill the idea — they are the price of the lever, paid in discipline.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 · Group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545336"/>
            <a:ext cx="146304" cy="146304"/>
          </a:xfrm>
          <a:prstGeom prst="ellipse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41732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≠ release — split the event, keep the levers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231136"/>
            <a:ext cx="146304" cy="146304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10312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+ hash = gradual, reversible rollouts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2916936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78892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kill switch is your 2 a.m. insurance policy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602736"/>
            <a:ext cx="146304" cy="146304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47472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up your flags — the lever is rented, not owned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89520" y="1417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yourself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589520" y="1920240"/>
            <a:ext cx="4069080" cy="1600200"/>
          </a:xfrm>
          <a:prstGeom prst="roundRect">
            <a:avLst>
              <a:gd name="adj" fmla="val 5143"/>
            </a:avLst>
          </a:prstGeom>
          <a:solidFill>
            <a:srgbClr val="0D1117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2084832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93A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localhost:3000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93A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zlxdengtianhei/dh2643-seminar4-featureflags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89520" y="36576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flags · drag the rollout · break checkout · rescue it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 · Group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129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50876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 Hodgson — Feature Toggles, Part 1: classification of flag types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martinfowler.com/articles/feature-toggles.html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129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3774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Martin Fowler — Feature Flags &amp; continuous delivery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martinfowler.com/blogs/feature-flags.html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129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2461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LaunchDarkly docs — bucketing &amp; percentage rollouts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docs.launchdarkly.com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129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411480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test-less demo: our zero-dependency server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server.js (repo)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5349240"/>
            <a:ext cx="11091672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5321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+ slides + script:  </a:t>
            </a:r>
            <a:pPr indent="0" marL="0">
              <a:buNone/>
            </a:pPr>
            <a:r>
              <a:rPr lang="en-US" sz="1400" dirty="0">
                <a:solidFill>
                  <a:srgbClr val="F4D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github.com/zlxdengtianhei/dh2643-seminar4-featureflags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— questions?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 · Group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recording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five scenes in one take — real flags, real checkout.</a:t>
            </a:r>
            <a:endParaRPr lang="en-US" sz="1600" dirty="0"/>
          </a:p>
        </p:txBody>
      </p:sp>
      <p:pic>
        <p:nvPicPr>
          <p:cNvPr id="17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783080"/>
            <a:ext cx="8412480" cy="46531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81160" y="1920240"/>
            <a:ext cx="2377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flag → rollout 60%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visitors → cart items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→ kill switch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1B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redeploys: 0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150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">
                <p:cTn id="7" fill="hold" display="0">
                  <p:stCondLst>
                    <p:cond delay="0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Flags — DH2643 Seminar 4</dc:title>
  <dc:subject>PptxGenJS Presentation</dc:subject>
  <dc:creator>Group 5</dc:creator>
  <cp:lastModifiedBy>Group 5</cp:lastModifiedBy>
  <cp:revision>1</cp:revision>
  <dcterms:created xsi:type="dcterms:W3CDTF">2026-09-15T10:22:34Z</dcterms:created>
  <dcterms:modified xsi:type="dcterms:W3CDTF">2026-09-15T10:22:34Z</dcterms:modified>
</cp:coreProperties>
</file>